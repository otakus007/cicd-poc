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High-Level Infrastructure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82880" y="914400"/>
            <a:ext cx="1371600" cy="2743200"/>
          </a:xfrm>
          <a:prstGeom prst="roundRect">
            <a:avLst>
              <a:gd name="adj" fmla="val 6667"/>
            </a:avLst>
          </a:prstGeom>
          <a:solidFill>
            <a:srgbClr val="283A5E">
              <a:alpha val="40000"/>
            </a:srgbClr>
          </a:solidFill>
          <a:ln w="12700">
            <a:solidFill>
              <a:srgbClr val="7B8FA1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82880" y="960120"/>
            <a:ext cx="1371600" cy="182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8FA1"/>
                </a:solidFill>
              </a:rPr>
              <a:t>Internet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188720" cy="548640"/>
          </a:xfrm>
          <a:prstGeom prst="roundRect">
            <a:avLst>
              <a:gd name="adj" fmla="val 8333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/ Browser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1188720" cy="548640"/>
          </a:xfrm>
          <a:prstGeom prst="roundRect">
            <a:avLst>
              <a:gd name="adj" fmla="val 8333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1488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DevOps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Repos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645920" y="731520"/>
            <a:ext cx="7315200" cy="4114800"/>
          </a:xfrm>
          <a:prstGeom prst="roundRect">
            <a:avLst>
              <a:gd name="adj" fmla="val 2222"/>
            </a:avLst>
          </a:prstGeom>
          <a:solidFill>
            <a:srgbClr val="283A5E">
              <a:alpha val="40000"/>
            </a:srgbClr>
          </a:solidFill>
          <a:ln w="12700">
            <a:solidFill>
              <a:srgbClr val="7B8FA1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645920" y="777240"/>
            <a:ext cx="7315200" cy="182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8FA1"/>
                </a:solidFill>
              </a:rPr>
              <a:t>AWS Cloud (us-east-1)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0" y="109728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283A5E">
              <a:alpha val="40000"/>
            </a:srgbClr>
          </a:solidFill>
          <a:ln w="12700">
            <a:solidFill>
              <a:srgbClr val="7B8FA1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828800" y="1143000"/>
            <a:ext cx="1371600" cy="182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8FA1"/>
                </a:solidFill>
              </a:rPr>
              <a:t>API Gateway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20240" y="137160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API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65960" y="16459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+ TLS 1.2+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920240" y="192024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19659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 Lambda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65960" y="21945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/webhook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91840" y="914400"/>
            <a:ext cx="5577840" cy="3840480"/>
          </a:xfrm>
          <a:prstGeom prst="roundRect">
            <a:avLst>
              <a:gd name="adj" fmla="val 2381"/>
            </a:avLst>
          </a:prstGeom>
          <a:solidFill>
            <a:srgbClr val="283A5E">
              <a:alpha val="40000"/>
            </a:srgbClr>
          </a:solidFill>
          <a:ln w="12700">
            <a:solidFill>
              <a:srgbClr val="7B8FA1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291840" y="960120"/>
            <a:ext cx="5577840" cy="182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8FA1"/>
                </a:solidFill>
              </a:rPr>
              <a:t>VPC 10.0.0.0/16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474720" y="1371600"/>
            <a:ext cx="914400" cy="548640"/>
          </a:xfrm>
          <a:prstGeom prst="roundRect">
            <a:avLst>
              <a:gd name="adj" fmla="val 8333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417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VPC Link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20440" y="1645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Access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572000" y="109728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283A5E">
              <a:alpha val="40000"/>
            </a:srgbClr>
          </a:solidFill>
          <a:ln w="12700">
            <a:solidFill>
              <a:srgbClr val="7B8FA1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572000" y="1143000"/>
            <a:ext cx="1097280" cy="182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8FA1"/>
                </a:solidFill>
              </a:rPr>
              <a:t>Load Balancing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63440" y="1371600"/>
            <a:ext cx="914400" cy="548640"/>
          </a:xfrm>
          <a:prstGeom prst="roundRect">
            <a:avLst>
              <a:gd name="adj" fmla="val 8333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417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ALB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9160" y="16459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:80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760720" y="1097280"/>
            <a:ext cx="1371600" cy="1645920"/>
          </a:xfrm>
          <a:prstGeom prst="roundRect">
            <a:avLst>
              <a:gd name="adj" fmla="val 6667"/>
            </a:avLst>
          </a:prstGeom>
          <a:solidFill>
            <a:srgbClr val="283A5E">
              <a:alpha val="40000"/>
            </a:srgbClr>
          </a:solidFill>
          <a:ln w="12700">
            <a:solidFill>
              <a:srgbClr val="7B8FA1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5760720" y="1143000"/>
            <a:ext cx="1371600" cy="182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8FA1"/>
                </a:solidFill>
              </a:rPr>
              <a:t>Project A: cash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852160" y="137160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5216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TG 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97880" y="1645920"/>
            <a:ext cx="109728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/api/cash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852160" y="182880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18745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SVC 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97880" y="2103120"/>
            <a:ext cx="109728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Fargate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852160" y="228600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23317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97880" y="2560320"/>
            <a:ext cx="109728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stages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315200" y="1097280"/>
            <a:ext cx="1371600" cy="1645920"/>
          </a:xfrm>
          <a:prstGeom prst="roundRect">
            <a:avLst>
              <a:gd name="adj" fmla="val 6667"/>
            </a:avLst>
          </a:prstGeom>
          <a:solidFill>
            <a:srgbClr val="283A5E">
              <a:alpha val="40000"/>
            </a:srgbClr>
          </a:solidFill>
          <a:ln w="12700">
            <a:solidFill>
              <a:srgbClr val="7B8FA1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7315200" y="1143000"/>
            <a:ext cx="1371600" cy="182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8FA1"/>
                </a:solidFill>
              </a:rPr>
              <a:t>Project B: poultry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06640" y="137160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TG B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52360" y="1645920"/>
            <a:ext cx="109728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/api/poultry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406640" y="182880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06640" y="18745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SVC B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52360" y="2103120"/>
            <a:ext cx="109728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Fargate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406640" y="228600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06640" y="23317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B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452360" y="2560320"/>
            <a:ext cx="109728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stages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474720" y="320040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283A5E">
              <a:alpha val="40000"/>
            </a:srgbClr>
          </a:solidFill>
          <a:ln w="12700">
            <a:solidFill>
              <a:srgbClr val="7B8FA1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3474720" y="3246120"/>
            <a:ext cx="2560320" cy="182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8FA1"/>
                </a:solidFill>
              </a:rPr>
              <a:t>AZ-a (10.0.1.0/24, 10.0.10.0/24)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217920" y="320040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283A5E">
              <a:alpha val="40000"/>
            </a:srgbClr>
          </a:solidFill>
          <a:ln w="12700">
            <a:solidFill>
              <a:srgbClr val="7B8FA1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6217920" y="3246120"/>
            <a:ext cx="2560320" cy="182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8FA1"/>
                </a:solidFill>
              </a:rPr>
              <a:t>AZ-b (10.0.2.0/24, 10.0.11.0/24)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463040" y="1463040"/>
            <a:ext cx="365760" cy="9144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57" name="Shape 55"/>
          <p:cNvSpPr/>
          <p:nvPr/>
        </p:nvSpPr>
        <p:spPr>
          <a:xfrm>
            <a:off x="3200400" y="1645920"/>
            <a:ext cx="274320" cy="9144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58" name="Shape 56"/>
          <p:cNvSpPr/>
          <p:nvPr/>
        </p:nvSpPr>
        <p:spPr>
          <a:xfrm>
            <a:off x="4389120" y="1645920"/>
            <a:ext cx="182880" cy="9144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59" name="Shape 57"/>
          <p:cNvSpPr/>
          <p:nvPr/>
        </p:nvSpPr>
        <p:spPr>
          <a:xfrm>
            <a:off x="5577840" y="1645920"/>
            <a:ext cx="182880" cy="91440"/>
          </a:xfrm>
          <a:prstGeom prst="rightArrow">
            <a:avLst/>
          </a:prstGeom>
          <a:solidFill>
            <a:srgbClr val="7B8FA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Deployment Model (Two-Tier Architecture)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3657600"/>
          </a:xfrm>
          <a:prstGeom prst="roundRect">
            <a:avLst>
              <a:gd name="adj" fmla="val 2500"/>
            </a:avLst>
          </a:prstGeom>
          <a:solidFill>
            <a:srgbClr val="283A5E">
              <a:alpha val="40000"/>
            </a:srgbClr>
          </a:solidFill>
          <a:ln w="12700">
            <a:solidFill>
              <a:srgbClr val="7B8FA1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657600" cy="182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8FA1"/>
                </a:solidFill>
              </a:rPr>
              <a:t>Shared Infrastructure (deploy.sh)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645920" y="1188720"/>
            <a:ext cx="1280160" cy="548640"/>
          </a:xfrm>
          <a:prstGeom prst="roundRect">
            <a:avLst>
              <a:gd name="adj" fmla="val 8333"/>
            </a:avLst>
          </a:prstGeom>
          <a:solidFill>
            <a:srgbClr val="F9616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23444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main.yaml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91640" y="1463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Stack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574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1737360"/>
            <a:ext cx="0" cy="274320"/>
          </a:xfrm>
          <a:prstGeom prst="downArrow">
            <a:avLst/>
          </a:prstGeom>
          <a:solidFill>
            <a:srgbClr val="7B8FA1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0" y="201168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20574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SecurityGroups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0" y="1737360"/>
            <a:ext cx="0" cy="274320"/>
          </a:xfrm>
          <a:prstGeom prst="downArrow">
            <a:avLst/>
          </a:prstGeom>
          <a:solidFill>
            <a:srgbClr val="7B8FA1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274320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889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0" y="1737360"/>
            <a:ext cx="0" cy="274320"/>
          </a:xfrm>
          <a:prstGeom prst="downArrow">
            <a:avLst/>
          </a:prstGeom>
          <a:solidFill>
            <a:srgbClr val="7B8FA1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0" y="274320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27889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0" y="1737360"/>
            <a:ext cx="0" cy="274320"/>
          </a:xfrm>
          <a:prstGeom prst="downArrow">
            <a:avLst/>
          </a:prstGeom>
          <a:solidFill>
            <a:srgbClr val="7B8FA1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47472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204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ApiGateway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0" y="1737360"/>
            <a:ext cx="0" cy="274320"/>
          </a:xfrm>
          <a:prstGeom prst="downArrow">
            <a:avLst/>
          </a:prstGeom>
          <a:solidFill>
            <a:srgbClr val="7B8FA1"/>
          </a:solidFill>
          <a:ln/>
        </p:spPr>
      </p:sp>
      <p:sp>
        <p:nvSpPr>
          <p:cNvPr id="23" name="Shape 21"/>
          <p:cNvSpPr/>
          <p:nvPr/>
        </p:nvSpPr>
        <p:spPr>
          <a:xfrm>
            <a:off x="2286000" y="347472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35204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 Cluster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0" y="1737360"/>
            <a:ext cx="0" cy="274320"/>
          </a:xfrm>
          <a:prstGeom prst="downArrow">
            <a:avLst/>
          </a:prstGeom>
          <a:solidFill>
            <a:srgbClr val="7B8FA1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420624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2519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0" y="1737360"/>
            <a:ext cx="0" cy="274320"/>
          </a:xfrm>
          <a:prstGeom prst="downArrow">
            <a:avLst/>
          </a:prstGeom>
          <a:solidFill>
            <a:srgbClr val="7B8FA1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0" y="914400"/>
            <a:ext cx="1828800" cy="3657600"/>
          </a:xfrm>
          <a:prstGeom prst="roundRect">
            <a:avLst>
              <a:gd name="adj" fmla="val 5000"/>
            </a:avLst>
          </a:prstGeom>
          <a:solidFill>
            <a:srgbClr val="283A5E">
              <a:alpha val="40000"/>
            </a:srgbClr>
          </a:solidFill>
          <a:ln w="12700">
            <a:solidFill>
              <a:srgbClr val="7B8FA1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4572000" y="960120"/>
            <a:ext cx="1828800" cy="182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8FA1"/>
                </a:solidFill>
              </a:rPr>
              <a:t>Fargate Exports (Fn::ImportValue)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1371600"/>
            <a:ext cx="1463040" cy="2743200"/>
          </a:xfrm>
          <a:prstGeom prst="roundRect">
            <a:avLst>
              <a:gd name="adj" fmla="val 3125"/>
            </a:avLst>
          </a:prstGeom>
          <a:solidFill>
            <a:srgbClr val="283A5E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4173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00600" y="1645920"/>
            <a:ext cx="1371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VpcId, SubnetIds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SG Ids, IAM Roles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ALB ARN, ClusterArn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858000" y="914400"/>
            <a:ext cx="1828800" cy="3657600"/>
          </a:xfrm>
          <a:prstGeom prst="roundRect">
            <a:avLst>
              <a:gd name="adj" fmla="val 5000"/>
            </a:avLst>
          </a:prstGeom>
          <a:solidFill>
            <a:srgbClr val="283A5E">
              <a:alpha val="40000"/>
            </a:srgbClr>
          </a:solidFill>
          <a:ln w="12700">
            <a:solidFill>
              <a:srgbClr val="7B8FA1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6858000" y="960120"/>
            <a:ext cx="1828800" cy="182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8FA1"/>
                </a:solidFill>
              </a:rPr>
              <a:t>Per-Project Stacks (deploy-project.sh)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040880" y="1371600"/>
            <a:ext cx="1463040" cy="731520"/>
          </a:xfrm>
          <a:prstGeom prst="roundRect">
            <a:avLst>
              <a:gd name="adj" fmla="val 625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0" y="14173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cash-collection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8660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project.yaml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040880" y="2286000"/>
            <a:ext cx="1463040" cy="731520"/>
          </a:xfrm>
          <a:prstGeom prst="roundRect">
            <a:avLst>
              <a:gd name="adj" fmla="val 625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23317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poultry-sale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086600" y="2560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project.yaml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040880" y="3200400"/>
            <a:ext cx="1463040" cy="731520"/>
          </a:xfrm>
          <a:prstGeom prst="roundRect">
            <a:avLst>
              <a:gd name="adj" fmla="val 625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40880" y="32461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swine-api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86600" y="3474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project.yaml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114800" y="2286000"/>
            <a:ext cx="457200" cy="18288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46" name="Shape 44"/>
          <p:cNvSpPr/>
          <p:nvPr/>
        </p:nvSpPr>
        <p:spPr>
          <a:xfrm>
            <a:off x="6400800" y="2286000"/>
            <a:ext cx="457200" cy="182880"/>
          </a:xfrm>
          <a:prstGeom prst="rightArrow">
            <a:avLst/>
          </a:prstGeom>
          <a:solidFill>
            <a:srgbClr val="7B8FA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CI/CD Pipeline Flow (8 Stages)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82880" y="2286000"/>
            <a:ext cx="914400" cy="731520"/>
          </a:xfrm>
          <a:prstGeom prst="roundRect">
            <a:avLst>
              <a:gd name="adj" fmla="val 6250"/>
            </a:avLst>
          </a:prstGeom>
          <a:solidFill>
            <a:srgbClr val="F9616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2331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 trigger.zip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1097280" y="2651760"/>
            <a:ext cx="182880" cy="18288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2286000"/>
            <a:ext cx="822960" cy="731520"/>
          </a:xfrm>
          <a:prstGeom prst="roundRect">
            <a:avLst>
              <a:gd name="adj" fmla="val 625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3317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Source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03120" y="2651760"/>
            <a:ext cx="137160" cy="13716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10" name="Shape 8"/>
          <p:cNvSpPr/>
          <p:nvPr/>
        </p:nvSpPr>
        <p:spPr>
          <a:xfrm>
            <a:off x="2240280" y="2286000"/>
            <a:ext cx="822960" cy="731520"/>
          </a:xfrm>
          <a:prstGeom prst="roundRect">
            <a:avLst>
              <a:gd name="adj" fmla="val 625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23317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Clone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63240" y="2651760"/>
            <a:ext cx="137160" cy="13716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2286000"/>
            <a:ext cx="822960" cy="731520"/>
          </a:xfrm>
          <a:prstGeom prst="roundRect">
            <a:avLst>
              <a:gd name="adj" fmla="val 625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3317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Swagger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23360" y="2651760"/>
            <a:ext cx="137160" cy="13716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16" name="Shape 14"/>
          <p:cNvSpPr/>
          <p:nvPr/>
        </p:nvSpPr>
        <p:spPr>
          <a:xfrm>
            <a:off x="4160520" y="2286000"/>
            <a:ext cx="822960" cy="731520"/>
          </a:xfrm>
          <a:prstGeom prst="roundRect">
            <a:avLst>
              <a:gd name="adj" fmla="val 625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23317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Lint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83480" y="2651760"/>
            <a:ext cx="137160" cy="13716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19" name="Shape 17"/>
          <p:cNvSpPr/>
          <p:nvPr/>
        </p:nvSpPr>
        <p:spPr>
          <a:xfrm>
            <a:off x="5120640" y="2286000"/>
            <a:ext cx="822960" cy="731520"/>
          </a:xfrm>
          <a:prstGeom prst="roundRect">
            <a:avLst>
              <a:gd name="adj" fmla="val 625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3317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Build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0" y="2651760"/>
            <a:ext cx="137160" cy="13716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22" name="Shape 20"/>
          <p:cNvSpPr/>
          <p:nvPr/>
        </p:nvSpPr>
        <p:spPr>
          <a:xfrm>
            <a:off x="6080760" y="2286000"/>
            <a:ext cx="822960" cy="731520"/>
          </a:xfrm>
          <a:prstGeom prst="roundRect">
            <a:avLst>
              <a:gd name="adj" fmla="val 625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23317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Push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03720" y="2651760"/>
            <a:ext cx="137160" cy="13716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25" name="Shape 23"/>
          <p:cNvSpPr/>
          <p:nvPr/>
        </p:nvSpPr>
        <p:spPr>
          <a:xfrm>
            <a:off x="7040880" y="2286000"/>
            <a:ext cx="822960" cy="731520"/>
          </a:xfrm>
          <a:prstGeom prst="roundRect">
            <a:avLst>
              <a:gd name="adj" fmla="val 625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23317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Deploy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863840" y="2651760"/>
            <a:ext cx="137160" cy="13716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28" name="Shape 26"/>
          <p:cNvSpPr/>
          <p:nvPr/>
        </p:nvSpPr>
        <p:spPr>
          <a:xfrm>
            <a:off x="8001000" y="2286000"/>
            <a:ext cx="822960" cy="731520"/>
          </a:xfrm>
          <a:prstGeom prst="roundRect">
            <a:avLst>
              <a:gd name="adj" fmla="val 625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23317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Test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0" y="914400"/>
            <a:ext cx="914400" cy="548640"/>
          </a:xfrm>
          <a:prstGeom prst="roundRect">
            <a:avLst>
              <a:gd name="adj" fmla="val 8333"/>
            </a:avLst>
          </a:prstGeom>
          <a:solidFill>
            <a:srgbClr val="283A5E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9601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DevOps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51760" y="1463040"/>
            <a:ext cx="0" cy="822960"/>
          </a:xfrm>
          <a:prstGeom prst="downArrow">
            <a:avLst/>
          </a:prstGeom>
          <a:solidFill>
            <a:srgbClr val="7B8FA1"/>
          </a:solidFill>
          <a:ln/>
        </p:spPr>
      </p:sp>
      <p:sp>
        <p:nvSpPr>
          <p:cNvPr id="33" name="Shape 31"/>
          <p:cNvSpPr/>
          <p:nvPr/>
        </p:nvSpPr>
        <p:spPr>
          <a:xfrm>
            <a:off x="4206240" y="914400"/>
            <a:ext cx="914400" cy="548640"/>
          </a:xfrm>
          <a:prstGeom prst="roundRect">
            <a:avLst>
              <a:gd name="adj" fmla="val 8333"/>
            </a:avLst>
          </a:prstGeom>
          <a:solidFill>
            <a:srgbClr val="F9616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0" y="9601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SNS Topic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51960" y="11887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Lint Alerts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572000" y="1463040"/>
            <a:ext cx="0" cy="822960"/>
          </a:xfrm>
          <a:prstGeom prst="downArrow">
            <a:avLst/>
          </a:prstGeom>
          <a:solidFill>
            <a:srgbClr val="7B8FA1"/>
          </a:solidFill>
          <a:ln/>
        </p:spPr>
      </p:sp>
      <p:sp>
        <p:nvSpPr>
          <p:cNvPr id="37" name="Shape 35"/>
          <p:cNvSpPr/>
          <p:nvPr/>
        </p:nvSpPr>
        <p:spPr>
          <a:xfrm>
            <a:off x="6126480" y="914400"/>
            <a:ext cx="914400" cy="548640"/>
          </a:xfrm>
          <a:prstGeom prst="roundRect">
            <a:avLst>
              <a:gd name="adj" fmla="val 8333"/>
            </a:avLst>
          </a:prstGeom>
          <a:solidFill>
            <a:srgbClr val="283A5E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9601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92240" y="1463040"/>
            <a:ext cx="0" cy="822960"/>
          </a:xfrm>
          <a:prstGeom prst="downArrow">
            <a:avLst/>
          </a:prstGeom>
          <a:solidFill>
            <a:srgbClr val="7B8FA1"/>
          </a:solidFill>
          <a:ln/>
        </p:spPr>
      </p:sp>
      <p:sp>
        <p:nvSpPr>
          <p:cNvPr id="40" name="Shape 38"/>
          <p:cNvSpPr/>
          <p:nvPr/>
        </p:nvSpPr>
        <p:spPr>
          <a:xfrm>
            <a:off x="7132320" y="914400"/>
            <a:ext cx="914400" cy="548640"/>
          </a:xfrm>
          <a:prstGeom prst="roundRect">
            <a:avLst>
              <a:gd name="adj" fmla="val 8333"/>
            </a:avLst>
          </a:prstGeom>
          <a:solidFill>
            <a:srgbClr val="97BC62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0" y="9601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 Service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98080" y="1463040"/>
            <a:ext cx="0" cy="822960"/>
          </a:xfrm>
          <a:prstGeom prst="downArrow">
            <a:avLst/>
          </a:prstGeom>
          <a:solidFill>
            <a:srgbClr val="7B8FA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Request 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0"/>
          </a:xfrm>
          <a:prstGeom prst="rect">
            <a:avLst/>
          </a:prstGeom>
          <a:solidFill>
            <a:srgbClr val="283A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05840" y="1280160"/>
            <a:ext cx="0" cy="3474720"/>
          </a:xfrm>
          <a:prstGeom prst="line">
            <a:avLst/>
          </a:prstGeom>
          <a:noFill/>
          <a:ln w="12700">
            <a:solidFill>
              <a:srgbClr val="7B8FA1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691640" y="914400"/>
            <a:ext cx="1097280" cy="365760"/>
          </a:xfrm>
          <a:prstGeom prst="rect">
            <a:avLst/>
          </a:prstGeom>
          <a:solidFill>
            <a:srgbClr val="283A5E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914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40280" y="1280160"/>
            <a:ext cx="0" cy="3474720"/>
          </a:xfrm>
          <a:prstGeom prst="line">
            <a:avLst/>
          </a:prstGeom>
          <a:noFill/>
          <a:ln w="12700">
            <a:solidFill>
              <a:srgbClr val="7B8FA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926080" y="914400"/>
            <a:ext cx="1097280" cy="365760"/>
          </a:xfrm>
          <a:prstGeom prst="rect">
            <a:avLst/>
          </a:prstGeom>
          <a:solidFill>
            <a:srgbClr val="283A5E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914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VPC Link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0" y="1280160"/>
            <a:ext cx="0" cy="3474720"/>
          </a:xfrm>
          <a:prstGeom prst="line">
            <a:avLst/>
          </a:prstGeom>
          <a:noFill/>
          <a:ln w="12700">
            <a:solidFill>
              <a:srgbClr val="7B8FA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160520" y="914400"/>
            <a:ext cx="1097280" cy="365760"/>
          </a:xfrm>
          <a:prstGeom prst="rect">
            <a:avLst/>
          </a:prstGeom>
          <a:solidFill>
            <a:srgbClr val="283A5E"/>
          </a:solidFill>
          <a:ln/>
        </p:spPr>
      </p:sp>
      <p:sp>
        <p:nvSpPr>
          <p:cNvPr id="13" name="Text 11"/>
          <p:cNvSpPr/>
          <p:nvPr/>
        </p:nvSpPr>
        <p:spPr>
          <a:xfrm>
            <a:off x="4160520" y="914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Int. ALB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0" cy="3474720"/>
          </a:xfrm>
          <a:prstGeom prst="line">
            <a:avLst/>
          </a:prstGeom>
          <a:noFill/>
          <a:ln w="12700">
            <a:solidFill>
              <a:srgbClr val="7B8FA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394960" y="914400"/>
            <a:ext cx="1097280" cy="365760"/>
          </a:xfrm>
          <a:prstGeom prst="rect">
            <a:avLst/>
          </a:prstGeom>
          <a:solidFill>
            <a:srgbClr val="283A5E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914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Group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1280160"/>
            <a:ext cx="0" cy="3474720"/>
          </a:xfrm>
          <a:prstGeom prst="line">
            <a:avLst/>
          </a:prstGeom>
          <a:noFill/>
          <a:ln w="12700">
            <a:solidFill>
              <a:srgbClr val="7B8FA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629400" y="914400"/>
            <a:ext cx="1097280" cy="365760"/>
          </a:xfrm>
          <a:prstGeom prst="rect">
            <a:avLst/>
          </a:prstGeom>
          <a:solidFill>
            <a:srgbClr val="283A5E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914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 Task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78040" y="1280160"/>
            <a:ext cx="0" cy="3474720"/>
          </a:xfrm>
          <a:prstGeom prst="line">
            <a:avLst/>
          </a:prstGeom>
          <a:noFill/>
          <a:ln w="12700">
            <a:solidFill>
              <a:srgbClr val="7B8FA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863840" y="914400"/>
            <a:ext cx="1097280" cy="365760"/>
          </a:xfrm>
          <a:prstGeom prst="rect">
            <a:avLst/>
          </a:prstGeom>
          <a:solidFill>
            <a:srgbClr val="283A5E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0" y="914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412480" y="1280160"/>
            <a:ext cx="0" cy="3474720"/>
          </a:xfrm>
          <a:prstGeom prst="line">
            <a:avLst/>
          </a:prstGeom>
          <a:noFill/>
          <a:ln w="12700">
            <a:solidFill>
              <a:srgbClr val="7B8FA1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005840" y="1463040"/>
            <a:ext cx="1234440" cy="9144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132588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Request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2240280" y="1828800"/>
            <a:ext cx="1234440" cy="9144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27" name="Text 25"/>
          <p:cNvSpPr/>
          <p:nvPr/>
        </p:nvSpPr>
        <p:spPr>
          <a:xfrm>
            <a:off x="2240280" y="169164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Forward (VPC Link)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3474720" y="2194560"/>
            <a:ext cx="1234440" cy="9144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205740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:80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4709160" y="2560320"/>
            <a:ext cx="1234440" cy="9144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24231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Routing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5943600" y="2926080"/>
            <a:ext cx="1234440" cy="9144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0" y="278892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Forward to Container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178040" y="3291840"/>
            <a:ext cx="1234440" cy="9144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35" name="Text 33"/>
          <p:cNvSpPr/>
          <p:nvPr/>
        </p:nvSpPr>
        <p:spPr>
          <a:xfrm>
            <a:off x="7178040" y="315468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7178040" y="3657600"/>
            <a:ext cx="1234440" cy="91440"/>
          </a:xfrm>
          <a:prstGeom prst="leftArrow">
            <a:avLst/>
          </a:prstGeom>
          <a:solidFill>
            <a:srgbClr val="7B8FA1"/>
          </a:solidFill>
          <a:ln/>
        </p:spPr>
      </p:sp>
      <p:sp>
        <p:nvSpPr>
          <p:cNvPr id="37" name="Text 35"/>
          <p:cNvSpPr/>
          <p:nvPr/>
        </p:nvSpPr>
        <p:spPr>
          <a:xfrm>
            <a:off x="7178040" y="352044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Security Groups Chain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0"/>
            <a:ext cx="1371600" cy="1097280"/>
          </a:xfrm>
          <a:prstGeom prst="roundRect">
            <a:avLst>
              <a:gd name="adj" fmla="val 4167"/>
            </a:avLst>
          </a:prstGeom>
          <a:solidFill>
            <a:srgbClr val="F9616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317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25603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0.0.0.0/0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731520" cy="18288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2606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 443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2560320" y="2286000"/>
            <a:ext cx="1371600" cy="1097280"/>
          </a:xfrm>
          <a:prstGeom prst="roundRect">
            <a:avLst>
              <a:gd name="adj" fmla="val 4167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3317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VpcLink SG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06040" y="25603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Ingress: 443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931920" y="2743200"/>
            <a:ext cx="731520" cy="18288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2606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 80, 443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4663440" y="2286000"/>
            <a:ext cx="1371600" cy="1097280"/>
          </a:xfrm>
          <a:prstGeom prst="roundRect">
            <a:avLst>
              <a:gd name="adj" fmla="val 4167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3317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ALB SG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25603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Ingress: VpcLink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035040" y="2743200"/>
            <a:ext cx="731520" cy="18288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606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 80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6766560" y="2286000"/>
            <a:ext cx="1371600" cy="1097280"/>
          </a:xfrm>
          <a:prstGeom prst="roundRect">
            <a:avLst>
              <a:gd name="adj" fmla="val 4167"/>
            </a:avLst>
          </a:prstGeom>
          <a:solidFill>
            <a:srgbClr val="97BC62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23317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 SG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12280" y="25603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Ingress: ALB SG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Egress: Any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ALB Path-Based Routing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0" y="9144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9616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0" y="9601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ALB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703320" y="11887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:80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0" y="1828800"/>
            <a:ext cx="0" cy="457200"/>
          </a:xfrm>
          <a:prstGeom prst="line">
            <a:avLst/>
          </a:prstGeom>
          <a:noFill/>
          <a:ln w="12700">
            <a:solidFill>
              <a:srgbClr val="7B8FA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2286000"/>
            <a:ext cx="5486400" cy="0"/>
          </a:xfrm>
          <a:prstGeom prst="line">
            <a:avLst/>
          </a:prstGeom>
          <a:noFill/>
          <a:ln w="12700">
            <a:solidFill>
              <a:srgbClr val="7B8FA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2286000"/>
            <a:ext cx="0" cy="457200"/>
          </a:xfrm>
          <a:prstGeom prst="line">
            <a:avLst/>
          </a:prstGeom>
          <a:noFill/>
          <a:ln w="12700">
            <a:solidFill>
              <a:srgbClr val="7B8FA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7432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88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Group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30175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/api/cash/*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100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28800" y="3657600"/>
            <a:ext cx="0" cy="457200"/>
          </a:xfrm>
          <a:prstGeom prst="downArrow">
            <a:avLst/>
          </a:prstGeom>
          <a:solidFill>
            <a:srgbClr val="7B8FA1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114800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97BC62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160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 Service 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4389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cash-collection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572000" y="2286000"/>
            <a:ext cx="0" cy="457200"/>
          </a:xfrm>
          <a:prstGeom prst="line">
            <a:avLst/>
          </a:prstGeom>
          <a:noFill/>
          <a:ln w="12700">
            <a:solidFill>
              <a:srgbClr val="7B8F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27432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2788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Group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03320" y="30175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/api/poultry/*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200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0" y="3657600"/>
            <a:ext cx="0" cy="457200"/>
          </a:xfrm>
          <a:prstGeom prst="downArrow">
            <a:avLst/>
          </a:prstGeom>
          <a:solidFill>
            <a:srgbClr val="7B8FA1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0" y="4114800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97BC62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4160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 Service 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03320" y="43891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poultry-sale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315200" y="2286000"/>
            <a:ext cx="0" cy="457200"/>
          </a:xfrm>
          <a:prstGeom prst="line">
            <a:avLst/>
          </a:prstGeom>
          <a:noFill/>
          <a:ln w="12700">
            <a:solidFill>
              <a:srgbClr val="7B8FA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27432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7B8FA1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788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 Rule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46520" y="30175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Match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404 JSON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ECS Deployment Strategy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0" y="914400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97BC62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0" y="9601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Running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703320" y="1188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Stable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0" y="1645920"/>
            <a:ext cx="0" cy="365760"/>
          </a:xfrm>
          <a:prstGeom prst="downArrow">
            <a:avLst/>
          </a:prstGeom>
          <a:solidFill>
            <a:srgbClr val="7B8FA1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2011680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20574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Image Pushed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03320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 Deployment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0" y="2743200"/>
            <a:ext cx="0" cy="365760"/>
          </a:xfrm>
          <a:prstGeom prst="downArrow">
            <a:avLst/>
          </a:prstGeom>
          <a:solidFill>
            <a:srgbClr val="7B8FA1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3108960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31546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 New Task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03320" y="3383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MaxPercent 200%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572000" y="3840480"/>
            <a:ext cx="0" cy="365760"/>
          </a:xfrm>
          <a:prstGeom prst="downArrow">
            <a:avLst/>
          </a:prstGeom>
          <a:solidFill>
            <a:srgbClr val="7B8FA1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0" y="4206240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F9616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4251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Check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03320" y="4480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/health (30s)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200400" y="4572000"/>
            <a:ext cx="457200" cy="0"/>
          </a:xfrm>
          <a:prstGeom prst="line">
            <a:avLst/>
          </a:prstGeom>
          <a:noFill/>
          <a:ln w="12700">
            <a:solidFill>
              <a:srgbClr val="7B8FA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4206240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F9616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4251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Circuit Breaker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4480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Rollback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486400" y="4572000"/>
            <a:ext cx="457200" cy="0"/>
          </a:xfrm>
          <a:prstGeom prst="line">
            <a:avLst/>
          </a:prstGeom>
          <a:noFill/>
          <a:ln w="12700">
            <a:solidFill>
              <a:srgbClr val="7B8FA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4206240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97BC62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4251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Drain Old Task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89320" y="4480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MinHealthy 50%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Monitoring &amp; Observability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1828800" cy="2743200"/>
          </a:xfrm>
          <a:prstGeom prst="roundRect">
            <a:avLst>
              <a:gd name="adj" fmla="val 5000"/>
            </a:avLst>
          </a:prstGeom>
          <a:solidFill>
            <a:srgbClr val="283A5E">
              <a:alpha val="40000"/>
            </a:srgbClr>
          </a:solidFill>
          <a:ln w="12700">
            <a:solidFill>
              <a:srgbClr val="7B8FA1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914400" y="1417320"/>
            <a:ext cx="1828800" cy="182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8FA1"/>
                </a:solidFill>
              </a:rPr>
              <a:t>Metric Sources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097280" y="164592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916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 Services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97280" y="237744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4231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ALB Metrics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97280" y="310896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15468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CodePipeline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2743200"/>
            <a:ext cx="914400" cy="18288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1371600"/>
            <a:ext cx="2286000" cy="2743200"/>
          </a:xfrm>
          <a:prstGeom prst="roundRect">
            <a:avLst>
              <a:gd name="adj" fmla="val 4000"/>
            </a:avLst>
          </a:prstGeom>
          <a:solidFill>
            <a:srgbClr val="283A5E">
              <a:alpha val="40000"/>
            </a:srgbClr>
          </a:solidFill>
          <a:ln w="12700">
            <a:solidFill>
              <a:srgbClr val="7B8FA1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657600" y="1417320"/>
            <a:ext cx="2286000" cy="182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8FA1"/>
                </a:solidFill>
              </a:rPr>
              <a:t>CloudWatch Alarms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0" y="164592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6916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CPU &gt; 80%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0" y="210312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1488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&gt; 80%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0" y="256032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26060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5xx Errors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0" y="301752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9616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306324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Unhealthy Host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0" y="2743200"/>
            <a:ext cx="914400" cy="18288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0" y="22860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97BC62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331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SNS Topic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03720" y="25603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 (Email/Slack)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Webhook Integration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1645920" cy="365760"/>
          </a:xfrm>
          <a:prstGeom prst="rect">
            <a:avLst/>
          </a:prstGeom>
          <a:solidFill>
            <a:srgbClr val="283A5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DevOps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737360" y="1280160"/>
            <a:ext cx="0" cy="3200400"/>
          </a:xfrm>
          <a:prstGeom prst="line">
            <a:avLst/>
          </a:prstGeom>
          <a:noFill/>
          <a:ln w="12700">
            <a:solidFill>
              <a:srgbClr val="7B8FA1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926080" y="914400"/>
            <a:ext cx="1645920" cy="365760"/>
          </a:xfrm>
          <a:prstGeom prst="rect">
            <a:avLst/>
          </a:prstGeom>
          <a:solidFill>
            <a:srgbClr val="283A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914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49040" y="1280160"/>
            <a:ext cx="0" cy="3200400"/>
          </a:xfrm>
          <a:prstGeom prst="line">
            <a:avLst/>
          </a:prstGeom>
          <a:noFill/>
          <a:ln w="12700">
            <a:solidFill>
              <a:srgbClr val="7B8FA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937760" y="914400"/>
            <a:ext cx="1645920" cy="365760"/>
          </a:xfrm>
          <a:prstGeom prst="rect">
            <a:avLst/>
          </a:prstGeom>
          <a:solidFill>
            <a:srgbClr val="283A5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914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 Lambda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60720" y="1280160"/>
            <a:ext cx="0" cy="3200400"/>
          </a:xfrm>
          <a:prstGeom prst="line">
            <a:avLst/>
          </a:prstGeom>
          <a:noFill/>
          <a:ln w="12700">
            <a:solidFill>
              <a:srgbClr val="7B8FA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949440" y="914400"/>
            <a:ext cx="1645920" cy="365760"/>
          </a:xfrm>
          <a:prstGeom prst="rect">
            <a:avLst/>
          </a:prstGeom>
          <a:solidFill>
            <a:srgbClr val="283A5E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914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CodePipeline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0" y="1280160"/>
            <a:ext cx="0" cy="3200400"/>
          </a:xfrm>
          <a:prstGeom prst="line">
            <a:avLst/>
          </a:prstGeom>
          <a:noFill/>
          <a:ln w="12700">
            <a:solidFill>
              <a:srgbClr val="7B8FA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737360" y="1645920"/>
            <a:ext cx="2011680" cy="9144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16" name="Text 14"/>
          <p:cNvSpPr/>
          <p:nvPr/>
        </p:nvSpPr>
        <p:spPr>
          <a:xfrm>
            <a:off x="1737360" y="1508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/webhook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3749040" y="2194560"/>
            <a:ext cx="2011680" cy="9144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20574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Invoke (AWS_PROXY)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5760720" y="2743200"/>
            <a:ext cx="2011680" cy="9144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2606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StartPipelineExecution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5760720" y="3291840"/>
            <a:ext cx="2011680" cy="91440"/>
          </a:xfrm>
          <a:prstGeom prst="leftArrow">
            <a:avLst/>
          </a:prstGeom>
          <a:solidFill>
            <a:srgbClr val="7B8FA1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31546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executionId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3749040" y="3840480"/>
            <a:ext cx="2011680" cy="91440"/>
          </a:xfrm>
          <a:prstGeom prst="leftArrow">
            <a:avLst/>
          </a:prstGeom>
          <a:solidFill>
            <a:srgbClr val="7B8FA1"/>
          </a:solidFill>
          <a:ln/>
        </p:spPr>
      </p:sp>
      <p:sp>
        <p:nvSpPr>
          <p:cNvPr id="24" name="Text 22"/>
          <p:cNvSpPr/>
          <p:nvPr/>
        </p:nvSpPr>
        <p:spPr>
          <a:xfrm>
            <a:off x="3749040" y="37033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 OK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Iterative Migration Strategy (5 Waves / 8 Weeks)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283A5E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 W1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463040" y="91440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283A5E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96012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 W2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283A5E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96012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 W3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91440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283A5E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96012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Feb W4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80560" y="91440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283A5E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96012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 W1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91440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283A5E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96012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 W2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92240" y="91440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283A5E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96012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 W3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91440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283A5E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96012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 W4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1463040"/>
            <a:ext cx="8778240" cy="548640"/>
          </a:xfrm>
          <a:prstGeom prst="rect">
            <a:avLst/>
          </a:prstGeom>
          <a:solidFill>
            <a:srgbClr val="3E5074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82880" y="16459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Infrastructure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" y="2103120"/>
            <a:ext cx="8778240" cy="548640"/>
          </a:xfrm>
          <a:prstGeom prst="rect">
            <a:avLst/>
          </a:prstGeom>
          <a:solidFill>
            <a:srgbClr val="283A5E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" y="22860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Wave 1: Fnd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82880" y="2743200"/>
            <a:ext cx="8778240" cy="548640"/>
          </a:xfrm>
          <a:prstGeom prst="rect">
            <a:avLst/>
          </a:prstGeom>
          <a:solidFill>
            <a:srgbClr val="283A5E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29260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Wave 2: Cash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" y="3383280"/>
            <a:ext cx="8778240" cy="548640"/>
          </a:xfrm>
          <a:prstGeom prst="rect">
            <a:avLst/>
          </a:prstGeom>
          <a:solidFill>
            <a:srgbClr val="283A5E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82880" y="3566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Wave 3: Pltry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2880" y="4023360"/>
            <a:ext cx="8778240" cy="548640"/>
          </a:xfrm>
          <a:prstGeom prst="rect">
            <a:avLst/>
          </a:prstGeom>
          <a:solidFill>
            <a:srgbClr val="283A5E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4206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Wave 4: Rpts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2880" y="4663440"/>
            <a:ext cx="8778240" cy="548640"/>
          </a:xfrm>
          <a:prstGeom prst="rect">
            <a:avLst/>
          </a:prstGeom>
          <a:solidFill>
            <a:srgbClr val="283A5E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82880" y="48463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Wave 5: Adm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1600200"/>
            <a:ext cx="914400" cy="274320"/>
          </a:xfrm>
          <a:prstGeom prst="roundRect">
            <a:avLst>
              <a:gd name="adj" fmla="val 33333"/>
            </a:avLst>
          </a:prstGeom>
          <a:solidFill>
            <a:srgbClr val="97BC62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1600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</a:rPr>
              <a:t>Foundation &amp; CI/CD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960120" y="2240280"/>
            <a:ext cx="512064" cy="274320"/>
          </a:xfrm>
          <a:prstGeom prst="roundRect">
            <a:avLst>
              <a:gd name="adj" fmla="val 33333"/>
            </a:avLst>
          </a:prstGeom>
          <a:solidFill>
            <a:srgbClr val="F96167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2240280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</a:rPr>
              <a:t>Upg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1563624" y="2240280"/>
            <a:ext cx="310896" cy="274320"/>
          </a:xfrm>
          <a:prstGeom prst="roundRect">
            <a:avLst>
              <a:gd name="adj" fmla="val 33333"/>
            </a:avLst>
          </a:prstGeom>
          <a:solidFill>
            <a:srgbClr val="7B8FA1"/>
          </a:solidFill>
          <a:ln/>
        </p:spPr>
      </p:sp>
      <p:sp>
        <p:nvSpPr>
          <p:cNvPr id="36" name="Text 34"/>
          <p:cNvSpPr/>
          <p:nvPr/>
        </p:nvSpPr>
        <p:spPr>
          <a:xfrm>
            <a:off x="1563624" y="224028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</a:rPr>
              <a:t>Lnt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1965960" y="2240280"/>
            <a:ext cx="310896" cy="274320"/>
          </a:xfrm>
          <a:prstGeom prst="roundRect">
            <a:avLst>
              <a:gd name="adj" fmla="val 33333"/>
            </a:avLst>
          </a:prstGeom>
          <a:solidFill>
            <a:srgbClr val="7B8FA1"/>
          </a:solidFill>
          <a:ln/>
        </p:spPr>
      </p:sp>
      <p:sp>
        <p:nvSpPr>
          <p:cNvPr id="38" name="Text 36"/>
          <p:cNvSpPr/>
          <p:nvPr/>
        </p:nvSpPr>
        <p:spPr>
          <a:xfrm>
            <a:off x="1965960" y="224028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</a:rPr>
              <a:t>Tst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2368296" y="2240280"/>
            <a:ext cx="310896" cy="274320"/>
          </a:xfrm>
          <a:prstGeom prst="roundRect">
            <a:avLst>
              <a:gd name="adj" fmla="val 33333"/>
            </a:avLst>
          </a:prstGeom>
          <a:solidFill>
            <a:srgbClr val="7B8FA1"/>
          </a:solidFill>
          <a:ln/>
        </p:spPr>
      </p:sp>
      <p:sp>
        <p:nvSpPr>
          <p:cNvPr id="40" name="Text 38"/>
          <p:cNvSpPr/>
          <p:nvPr/>
        </p:nvSpPr>
        <p:spPr>
          <a:xfrm>
            <a:off x="2368296" y="224028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</a:rPr>
              <a:t>Dep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1965960" y="2880360"/>
            <a:ext cx="612648" cy="274320"/>
          </a:xfrm>
          <a:prstGeom prst="roundRect">
            <a:avLst>
              <a:gd name="adj" fmla="val 33333"/>
            </a:avLst>
          </a:prstGeom>
          <a:solidFill>
            <a:srgbClr val="7B8FA1"/>
          </a:solidFill>
          <a:ln/>
        </p:spPr>
      </p:sp>
      <p:sp>
        <p:nvSpPr>
          <p:cNvPr id="42" name="Text 40"/>
          <p:cNvSpPr/>
          <p:nvPr/>
        </p:nvSpPr>
        <p:spPr>
          <a:xfrm>
            <a:off x="1965960" y="2880360"/>
            <a:ext cx="612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</a:rPr>
              <a:t>Upg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2670048" y="2880360"/>
            <a:ext cx="310896" cy="274320"/>
          </a:xfrm>
          <a:prstGeom prst="roundRect">
            <a:avLst>
              <a:gd name="adj" fmla="val 33333"/>
            </a:avLst>
          </a:prstGeom>
          <a:solidFill>
            <a:srgbClr val="7B8FA1"/>
          </a:solidFill>
          <a:ln/>
        </p:spPr>
      </p:sp>
      <p:sp>
        <p:nvSpPr>
          <p:cNvPr id="44" name="Text 42"/>
          <p:cNvSpPr/>
          <p:nvPr/>
        </p:nvSpPr>
        <p:spPr>
          <a:xfrm>
            <a:off x="2670048" y="288036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</a:rPr>
              <a:t>Lnt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3072384" y="2880360"/>
            <a:ext cx="310896" cy="274320"/>
          </a:xfrm>
          <a:prstGeom prst="roundRect">
            <a:avLst>
              <a:gd name="adj" fmla="val 33333"/>
            </a:avLst>
          </a:prstGeom>
          <a:solidFill>
            <a:srgbClr val="7B8FA1"/>
          </a:solidFill>
          <a:ln/>
        </p:spPr>
      </p:sp>
      <p:sp>
        <p:nvSpPr>
          <p:cNvPr id="46" name="Text 44"/>
          <p:cNvSpPr/>
          <p:nvPr/>
        </p:nvSpPr>
        <p:spPr>
          <a:xfrm>
            <a:off x="3072384" y="288036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</a:rPr>
              <a:t>Tst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3474720" y="2880360"/>
            <a:ext cx="310896" cy="274320"/>
          </a:xfrm>
          <a:prstGeom prst="roundRect">
            <a:avLst>
              <a:gd name="adj" fmla="val 33333"/>
            </a:avLst>
          </a:prstGeom>
          <a:solidFill>
            <a:srgbClr val="7B8FA1"/>
          </a:solidFill>
          <a:ln/>
        </p:spPr>
      </p:sp>
      <p:sp>
        <p:nvSpPr>
          <p:cNvPr id="48" name="Text 46"/>
          <p:cNvSpPr/>
          <p:nvPr/>
        </p:nvSpPr>
        <p:spPr>
          <a:xfrm>
            <a:off x="3474720" y="288036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</a:rPr>
              <a:t>Dep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3072384" y="3520440"/>
            <a:ext cx="612648" cy="274320"/>
          </a:xfrm>
          <a:prstGeom prst="roundRect">
            <a:avLst>
              <a:gd name="adj" fmla="val 33333"/>
            </a:avLst>
          </a:prstGeom>
          <a:solidFill>
            <a:srgbClr val="7B8FA1"/>
          </a:solidFill>
          <a:ln/>
        </p:spPr>
      </p:sp>
      <p:sp>
        <p:nvSpPr>
          <p:cNvPr id="50" name="Text 48"/>
          <p:cNvSpPr/>
          <p:nvPr/>
        </p:nvSpPr>
        <p:spPr>
          <a:xfrm>
            <a:off x="3072384" y="3520440"/>
            <a:ext cx="612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</a:rPr>
              <a:t>Upg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3776472" y="3520440"/>
            <a:ext cx="310896" cy="274320"/>
          </a:xfrm>
          <a:prstGeom prst="roundRect">
            <a:avLst>
              <a:gd name="adj" fmla="val 33333"/>
            </a:avLst>
          </a:prstGeom>
          <a:solidFill>
            <a:srgbClr val="7B8FA1"/>
          </a:solidFill>
          <a:ln/>
        </p:spPr>
      </p:sp>
      <p:sp>
        <p:nvSpPr>
          <p:cNvPr id="52" name="Text 50"/>
          <p:cNvSpPr/>
          <p:nvPr/>
        </p:nvSpPr>
        <p:spPr>
          <a:xfrm>
            <a:off x="3776472" y="352044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</a:rPr>
              <a:t>Lnt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4178808" y="3520440"/>
            <a:ext cx="310896" cy="274320"/>
          </a:xfrm>
          <a:prstGeom prst="roundRect">
            <a:avLst>
              <a:gd name="adj" fmla="val 33333"/>
            </a:avLst>
          </a:prstGeom>
          <a:solidFill>
            <a:srgbClr val="7B8FA1"/>
          </a:solidFill>
          <a:ln/>
        </p:spPr>
      </p:sp>
      <p:sp>
        <p:nvSpPr>
          <p:cNvPr id="54" name="Text 52"/>
          <p:cNvSpPr/>
          <p:nvPr/>
        </p:nvSpPr>
        <p:spPr>
          <a:xfrm>
            <a:off x="4178808" y="352044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</a:rPr>
              <a:t>Tst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4581144" y="3520440"/>
            <a:ext cx="310896" cy="274320"/>
          </a:xfrm>
          <a:prstGeom prst="roundRect">
            <a:avLst>
              <a:gd name="adj" fmla="val 33333"/>
            </a:avLst>
          </a:prstGeom>
          <a:solidFill>
            <a:srgbClr val="7B8FA1"/>
          </a:solidFill>
          <a:ln/>
        </p:spPr>
      </p:sp>
      <p:sp>
        <p:nvSpPr>
          <p:cNvPr id="56" name="Text 54"/>
          <p:cNvSpPr/>
          <p:nvPr/>
        </p:nvSpPr>
        <p:spPr>
          <a:xfrm>
            <a:off x="4581144" y="352044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</a:rPr>
              <a:t>Dep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4178808" y="4160520"/>
            <a:ext cx="612648" cy="274320"/>
          </a:xfrm>
          <a:prstGeom prst="roundRect">
            <a:avLst>
              <a:gd name="adj" fmla="val 33333"/>
            </a:avLst>
          </a:prstGeom>
          <a:solidFill>
            <a:srgbClr val="7B8FA1"/>
          </a:solidFill>
          <a:ln/>
        </p:spPr>
      </p:sp>
      <p:sp>
        <p:nvSpPr>
          <p:cNvPr id="58" name="Text 56"/>
          <p:cNvSpPr/>
          <p:nvPr/>
        </p:nvSpPr>
        <p:spPr>
          <a:xfrm>
            <a:off x="4178808" y="4160520"/>
            <a:ext cx="612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</a:rPr>
              <a:t>Upg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4882896" y="4160520"/>
            <a:ext cx="310896" cy="274320"/>
          </a:xfrm>
          <a:prstGeom prst="roundRect">
            <a:avLst>
              <a:gd name="adj" fmla="val 33333"/>
            </a:avLst>
          </a:prstGeom>
          <a:solidFill>
            <a:srgbClr val="7B8FA1"/>
          </a:solidFill>
          <a:ln/>
        </p:spPr>
      </p:sp>
      <p:sp>
        <p:nvSpPr>
          <p:cNvPr id="60" name="Text 58"/>
          <p:cNvSpPr/>
          <p:nvPr/>
        </p:nvSpPr>
        <p:spPr>
          <a:xfrm>
            <a:off x="4882896" y="416052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</a:rPr>
              <a:t>Lnt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5285232" y="4160520"/>
            <a:ext cx="310896" cy="274320"/>
          </a:xfrm>
          <a:prstGeom prst="roundRect">
            <a:avLst>
              <a:gd name="adj" fmla="val 33333"/>
            </a:avLst>
          </a:prstGeom>
          <a:solidFill>
            <a:srgbClr val="7B8FA1"/>
          </a:solidFill>
          <a:ln/>
        </p:spPr>
      </p:sp>
      <p:sp>
        <p:nvSpPr>
          <p:cNvPr id="62" name="Text 60"/>
          <p:cNvSpPr/>
          <p:nvPr/>
        </p:nvSpPr>
        <p:spPr>
          <a:xfrm>
            <a:off x="5285232" y="416052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</a:rPr>
              <a:t>Tst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5687568" y="4160520"/>
            <a:ext cx="310896" cy="274320"/>
          </a:xfrm>
          <a:prstGeom prst="roundRect">
            <a:avLst>
              <a:gd name="adj" fmla="val 33333"/>
            </a:avLst>
          </a:prstGeom>
          <a:solidFill>
            <a:srgbClr val="7B8FA1"/>
          </a:solidFill>
          <a:ln/>
        </p:spPr>
      </p:sp>
      <p:sp>
        <p:nvSpPr>
          <p:cNvPr id="64" name="Text 62"/>
          <p:cNvSpPr/>
          <p:nvPr/>
        </p:nvSpPr>
        <p:spPr>
          <a:xfrm>
            <a:off x="5687568" y="416052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</a:rPr>
              <a:t>Dep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5285232" y="4800600"/>
            <a:ext cx="612648" cy="274320"/>
          </a:xfrm>
          <a:prstGeom prst="roundRect">
            <a:avLst>
              <a:gd name="adj" fmla="val 33333"/>
            </a:avLst>
          </a:prstGeom>
          <a:solidFill>
            <a:srgbClr val="7B8FA1"/>
          </a:solidFill>
          <a:ln/>
        </p:spPr>
      </p:sp>
      <p:sp>
        <p:nvSpPr>
          <p:cNvPr id="66" name="Text 64"/>
          <p:cNvSpPr/>
          <p:nvPr/>
        </p:nvSpPr>
        <p:spPr>
          <a:xfrm>
            <a:off x="5285232" y="4800600"/>
            <a:ext cx="612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</a:rPr>
              <a:t>Upg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5989320" y="4800600"/>
            <a:ext cx="310896" cy="274320"/>
          </a:xfrm>
          <a:prstGeom prst="roundRect">
            <a:avLst>
              <a:gd name="adj" fmla="val 33333"/>
            </a:avLst>
          </a:prstGeom>
          <a:solidFill>
            <a:srgbClr val="7B8FA1"/>
          </a:solidFill>
          <a:ln/>
        </p:spPr>
      </p:sp>
      <p:sp>
        <p:nvSpPr>
          <p:cNvPr id="68" name="Text 66"/>
          <p:cNvSpPr/>
          <p:nvPr/>
        </p:nvSpPr>
        <p:spPr>
          <a:xfrm>
            <a:off x="5989320" y="480060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</a:rPr>
              <a:t>Lnt</a:t>
            </a:r>
            <a:endParaRPr lang="en-US" sz="600" dirty="0"/>
          </a:p>
        </p:txBody>
      </p:sp>
      <p:sp>
        <p:nvSpPr>
          <p:cNvPr id="69" name="Shape 67"/>
          <p:cNvSpPr/>
          <p:nvPr/>
        </p:nvSpPr>
        <p:spPr>
          <a:xfrm>
            <a:off x="6391656" y="4800600"/>
            <a:ext cx="310896" cy="274320"/>
          </a:xfrm>
          <a:prstGeom prst="roundRect">
            <a:avLst>
              <a:gd name="adj" fmla="val 33333"/>
            </a:avLst>
          </a:prstGeom>
          <a:solidFill>
            <a:srgbClr val="7B8FA1"/>
          </a:solidFill>
          <a:ln/>
        </p:spPr>
      </p:sp>
      <p:sp>
        <p:nvSpPr>
          <p:cNvPr id="70" name="Text 68"/>
          <p:cNvSpPr/>
          <p:nvPr/>
        </p:nvSpPr>
        <p:spPr>
          <a:xfrm>
            <a:off x="6391656" y="480060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</a:rPr>
              <a:t>Tst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6793992" y="4800600"/>
            <a:ext cx="310896" cy="274320"/>
          </a:xfrm>
          <a:prstGeom prst="roundRect">
            <a:avLst>
              <a:gd name="adj" fmla="val 33333"/>
            </a:avLst>
          </a:prstGeom>
          <a:solidFill>
            <a:srgbClr val="7B8FA1"/>
          </a:solidFill>
          <a:ln/>
        </p:spPr>
      </p:sp>
      <p:sp>
        <p:nvSpPr>
          <p:cNvPr id="72" name="Text 70"/>
          <p:cNvSpPr/>
          <p:nvPr/>
        </p:nvSpPr>
        <p:spPr>
          <a:xfrm>
            <a:off x="6793992" y="480060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E2761"/>
                </a:solidFill>
              </a:rPr>
              <a:t>Dep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2743200" y="5669280"/>
            <a:ext cx="4572000" cy="457200"/>
          </a:xfrm>
          <a:prstGeom prst="roundRect">
            <a:avLst>
              <a:gd name="adj" fmla="val 10000"/>
            </a:avLst>
          </a:prstGeom>
          <a:solidFill>
            <a:srgbClr val="283A5E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43200" y="57150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Cycle: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2788920" y="5943600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Upg(Upgrade) → Lnt(Lint) → Tst(Test) → Dep(Deploy)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Fargate Infrastructure Architecture</dc:title>
  <dc:subject>PptxGenJS Presentation</dc:subject>
  <dc:creator>Antigravity</dc:creator>
  <cp:lastModifiedBy>Antigravity</cp:lastModifiedBy>
  <cp:revision>1</cp:revision>
  <dcterms:created xsi:type="dcterms:W3CDTF">2026-02-12T09:16:35Z</dcterms:created>
  <dcterms:modified xsi:type="dcterms:W3CDTF">2026-02-12T09:16:35Z</dcterms:modified>
</cp:coreProperties>
</file>